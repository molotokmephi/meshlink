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B1F725-1283-4F4C-8F42-0875A26556B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2444821-0FC1-46AC-98F1-9836F792B6A6}">
      <dgm:prSet/>
      <dgm:spPr/>
      <dgm:t>
        <a:bodyPr/>
        <a:lstStyle/>
        <a:p>
          <a:r>
            <a:rPr lang="en-US"/>
            <a:t>Python 3.10+, Flask + Socket.IO (web/API), UDP (discovery), TCP (messaging + file transfer), WebRTC (</a:t>
          </a:r>
          <a:r>
            <a:rPr lang="ru-RU"/>
            <a:t>голос/видео в браузере), криптография </a:t>
          </a:r>
          <a:r>
            <a:rPr lang="en-US"/>
            <a:t>X25519 + AES-256-GCM + Ed25519, SQLite (WAL) </a:t>
          </a:r>
          <a:r>
            <a:rPr lang="ru-RU"/>
            <a:t>для хранения. </a:t>
          </a:r>
          <a:r>
            <a:rPr lang="en-US"/>
            <a:t>SPA-</a:t>
          </a:r>
          <a:r>
            <a:rPr lang="ru-RU"/>
            <a:t>интерфейс в одном </a:t>
          </a:r>
          <a:r>
            <a:rPr lang="en-US"/>
            <a:t>HTML-</a:t>
          </a:r>
          <a:r>
            <a:rPr lang="ru-RU"/>
            <a:t>файле. </a:t>
          </a:r>
          <a:endParaRPr lang="en-US"/>
        </a:p>
      </dgm:t>
    </dgm:pt>
    <dgm:pt modelId="{0339FE61-B17F-40A5-B42E-4B8F094638DA}" type="parTrans" cxnId="{89517C34-9C77-4FB7-8B46-E0CF02F63756}">
      <dgm:prSet/>
      <dgm:spPr/>
      <dgm:t>
        <a:bodyPr/>
        <a:lstStyle/>
        <a:p>
          <a:endParaRPr lang="en-US"/>
        </a:p>
      </dgm:t>
    </dgm:pt>
    <dgm:pt modelId="{D2971E29-7FEF-4B0E-B970-110251ACA080}" type="sibTrans" cxnId="{89517C34-9C77-4FB7-8B46-E0CF02F63756}">
      <dgm:prSet/>
      <dgm:spPr/>
      <dgm:t>
        <a:bodyPr/>
        <a:lstStyle/>
        <a:p>
          <a:endParaRPr lang="en-US"/>
        </a:p>
      </dgm:t>
    </dgm:pt>
    <dgm:pt modelId="{983D494D-0E68-410A-B4A6-6EDBF0A0536B}">
      <dgm:prSet/>
      <dgm:spPr/>
      <dgm:t>
        <a:bodyPr/>
        <a:lstStyle/>
        <a:p>
          <a:r>
            <a:rPr lang="ru-RU"/>
            <a:t>Обоснование: низкий порог запуска, кроссплатформенность через браузер, полный контроль над протоколами.</a:t>
          </a:r>
          <a:endParaRPr lang="en-US"/>
        </a:p>
      </dgm:t>
    </dgm:pt>
    <dgm:pt modelId="{DA0233EB-91B3-4843-8376-F2FCB54BFBDB}" type="parTrans" cxnId="{6113600C-AA73-4239-9A31-8D0F740F5117}">
      <dgm:prSet/>
      <dgm:spPr/>
      <dgm:t>
        <a:bodyPr/>
        <a:lstStyle/>
        <a:p>
          <a:endParaRPr lang="en-US"/>
        </a:p>
      </dgm:t>
    </dgm:pt>
    <dgm:pt modelId="{ADE0C3C6-846A-4F15-9CE2-2704234A7429}" type="sibTrans" cxnId="{6113600C-AA73-4239-9A31-8D0F740F5117}">
      <dgm:prSet/>
      <dgm:spPr/>
      <dgm:t>
        <a:bodyPr/>
        <a:lstStyle/>
        <a:p>
          <a:endParaRPr lang="en-US"/>
        </a:p>
      </dgm:t>
    </dgm:pt>
    <dgm:pt modelId="{CA9D3BDC-FF77-4C30-A6B8-081D2B3C6704}" type="pres">
      <dgm:prSet presAssocID="{56B1F725-1283-4F4C-8F42-0875A26556B0}" presName="linear" presStyleCnt="0">
        <dgm:presLayoutVars>
          <dgm:animLvl val="lvl"/>
          <dgm:resizeHandles val="exact"/>
        </dgm:presLayoutVars>
      </dgm:prSet>
      <dgm:spPr/>
    </dgm:pt>
    <dgm:pt modelId="{AF33FF34-6F2D-44C3-A857-CB52A56947F9}" type="pres">
      <dgm:prSet presAssocID="{52444821-0FC1-46AC-98F1-9836F792B6A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4F4585C-5CD9-4AE1-BC05-D6C628E0594C}" type="pres">
      <dgm:prSet presAssocID="{D2971E29-7FEF-4B0E-B970-110251ACA080}" presName="spacer" presStyleCnt="0"/>
      <dgm:spPr/>
    </dgm:pt>
    <dgm:pt modelId="{2602A074-8A27-4874-9DDD-40B4D55A9EFB}" type="pres">
      <dgm:prSet presAssocID="{983D494D-0E68-410A-B4A6-6EDBF0A0536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113600C-AA73-4239-9A31-8D0F740F5117}" srcId="{56B1F725-1283-4F4C-8F42-0875A26556B0}" destId="{983D494D-0E68-410A-B4A6-6EDBF0A0536B}" srcOrd="1" destOrd="0" parTransId="{DA0233EB-91B3-4843-8376-F2FCB54BFBDB}" sibTransId="{ADE0C3C6-846A-4F15-9CE2-2704234A7429}"/>
    <dgm:cxn modelId="{CF665014-7128-4544-B526-C2AC7BBE8B1D}" type="presOf" srcId="{56B1F725-1283-4F4C-8F42-0875A26556B0}" destId="{CA9D3BDC-FF77-4C30-A6B8-081D2B3C6704}" srcOrd="0" destOrd="0" presId="urn:microsoft.com/office/officeart/2005/8/layout/vList2"/>
    <dgm:cxn modelId="{89517C34-9C77-4FB7-8B46-E0CF02F63756}" srcId="{56B1F725-1283-4F4C-8F42-0875A26556B0}" destId="{52444821-0FC1-46AC-98F1-9836F792B6A6}" srcOrd="0" destOrd="0" parTransId="{0339FE61-B17F-40A5-B42E-4B8F094638DA}" sibTransId="{D2971E29-7FEF-4B0E-B970-110251ACA080}"/>
    <dgm:cxn modelId="{8E83295C-095B-440F-BF4A-E173D10555CD}" type="presOf" srcId="{983D494D-0E68-410A-B4A6-6EDBF0A0536B}" destId="{2602A074-8A27-4874-9DDD-40B4D55A9EFB}" srcOrd="0" destOrd="0" presId="urn:microsoft.com/office/officeart/2005/8/layout/vList2"/>
    <dgm:cxn modelId="{934D057E-5C18-4C7A-B05A-2217E94B6AA5}" type="presOf" srcId="{52444821-0FC1-46AC-98F1-9836F792B6A6}" destId="{AF33FF34-6F2D-44C3-A857-CB52A56947F9}" srcOrd="0" destOrd="0" presId="urn:microsoft.com/office/officeart/2005/8/layout/vList2"/>
    <dgm:cxn modelId="{8B931066-8793-496A-BF1A-63AFB2CFAE10}" type="presParOf" srcId="{CA9D3BDC-FF77-4C30-A6B8-081D2B3C6704}" destId="{AF33FF34-6F2D-44C3-A857-CB52A56947F9}" srcOrd="0" destOrd="0" presId="urn:microsoft.com/office/officeart/2005/8/layout/vList2"/>
    <dgm:cxn modelId="{8FF417F8-027A-4E54-B551-321FE522B4E9}" type="presParOf" srcId="{CA9D3BDC-FF77-4C30-A6B8-081D2B3C6704}" destId="{34F4585C-5CD9-4AE1-BC05-D6C628E0594C}" srcOrd="1" destOrd="0" presId="urn:microsoft.com/office/officeart/2005/8/layout/vList2"/>
    <dgm:cxn modelId="{FBBB286E-7E2F-41F6-87F6-A0F8D093CDB4}" type="presParOf" srcId="{CA9D3BDC-FF77-4C30-A6B8-081D2B3C6704}" destId="{2602A074-8A27-4874-9DDD-40B4D55A9EF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16D891-584E-4381-A76E-1585F26FEC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B98D04-C437-4AF7-9F37-E23B8C270B52}">
      <dgm:prSet/>
      <dgm:spPr/>
      <dgm:t>
        <a:bodyPr/>
        <a:lstStyle/>
        <a:p>
          <a:r>
            <a:rPr lang="ru-RU"/>
            <a:t>Текстовый обмен через </a:t>
          </a:r>
          <a:r>
            <a:rPr lang="en-US"/>
            <a:t>TCP </a:t>
          </a:r>
          <a:r>
            <a:rPr lang="ru-RU"/>
            <a:t>с полным циклом доставки: </a:t>
          </a:r>
          <a:r>
            <a:rPr lang="en-US"/>
            <a:t>msg_id </a:t>
          </a:r>
          <a:r>
            <a:rPr lang="ru-RU"/>
            <a:t>для дедупликации, </a:t>
          </a:r>
          <a:r>
            <a:rPr lang="en-US"/>
            <a:t>ACK-</a:t>
          </a:r>
          <a:r>
            <a:rPr lang="ru-RU"/>
            <a:t>подтверждения, </a:t>
          </a:r>
          <a:r>
            <a:rPr lang="en-US"/>
            <a:t>retry </a:t>
          </a:r>
          <a:r>
            <a:rPr lang="ru-RU"/>
            <a:t>с </a:t>
          </a:r>
          <a:r>
            <a:rPr lang="en-US"/>
            <a:t>backoff, outbox-</a:t>
          </a:r>
          <a:r>
            <a:rPr lang="ru-RU"/>
            <a:t>очередь для недоступных пиров, </a:t>
          </a:r>
          <a:r>
            <a:rPr lang="en-US"/>
            <a:t>backpressure. </a:t>
          </a:r>
          <a:r>
            <a:rPr lang="ru-RU"/>
            <a:t>Мультихоп-ретрансляция: </a:t>
          </a:r>
          <a:r>
            <a:rPr lang="en-US"/>
            <a:t>flooding </a:t>
          </a:r>
          <a:r>
            <a:rPr lang="ru-RU"/>
            <a:t>с </a:t>
          </a:r>
          <a:r>
            <a:rPr lang="en-US"/>
            <a:t>TTL </a:t>
          </a:r>
          <a:r>
            <a:rPr lang="ru-RU"/>
            <a:t>и </a:t>
          </a:r>
          <a:r>
            <a:rPr lang="en-US"/>
            <a:t>relay path </a:t>
          </a:r>
          <a:r>
            <a:rPr lang="ru-RU"/>
            <a:t>для защиты от петель.</a:t>
          </a:r>
          <a:endParaRPr lang="en-US"/>
        </a:p>
      </dgm:t>
    </dgm:pt>
    <dgm:pt modelId="{3F7928BE-C947-4228-99DA-04A2052AF1AD}" type="parTrans" cxnId="{ECE01301-FCCD-418D-B9D0-385919EB78A7}">
      <dgm:prSet/>
      <dgm:spPr/>
      <dgm:t>
        <a:bodyPr/>
        <a:lstStyle/>
        <a:p>
          <a:endParaRPr lang="en-US"/>
        </a:p>
      </dgm:t>
    </dgm:pt>
    <dgm:pt modelId="{841E2DD0-47A8-4FCE-833B-DF3720B87CB0}" type="sibTrans" cxnId="{ECE01301-FCCD-418D-B9D0-385919EB78A7}">
      <dgm:prSet/>
      <dgm:spPr/>
      <dgm:t>
        <a:bodyPr/>
        <a:lstStyle/>
        <a:p>
          <a:endParaRPr lang="en-US"/>
        </a:p>
      </dgm:t>
    </dgm:pt>
    <dgm:pt modelId="{61FB4228-A174-48BA-9062-03FB25DC3CD1}">
      <dgm:prSet/>
      <dgm:spPr/>
      <dgm:t>
        <a:bodyPr/>
        <a:lstStyle/>
        <a:p>
          <a:r>
            <a:rPr lang="ru-RU"/>
            <a:t>Демо: </a:t>
          </a:r>
          <a:r>
            <a:rPr lang="en-US"/>
            <a:t>A↔B </a:t>
          </a:r>
          <a:r>
            <a:rPr lang="ru-RU"/>
            <a:t>прямой чат + </a:t>
          </a:r>
          <a:r>
            <a:rPr lang="en-US"/>
            <a:t>A→C </a:t>
          </a:r>
          <a:r>
            <a:rPr lang="ru-RU"/>
            <a:t>через </a:t>
          </a:r>
          <a:r>
            <a:rPr lang="en-US"/>
            <a:t>B (</a:t>
          </a:r>
          <a:r>
            <a:rPr lang="ru-RU"/>
            <a:t>ретранслятор).</a:t>
          </a:r>
          <a:endParaRPr lang="en-US"/>
        </a:p>
      </dgm:t>
    </dgm:pt>
    <dgm:pt modelId="{F15C85ED-C4C3-4BBA-B6CA-932097F9E94F}" type="parTrans" cxnId="{A48514D7-816B-4A04-BA3D-B86C81AB42C2}">
      <dgm:prSet/>
      <dgm:spPr/>
      <dgm:t>
        <a:bodyPr/>
        <a:lstStyle/>
        <a:p>
          <a:endParaRPr lang="en-US"/>
        </a:p>
      </dgm:t>
    </dgm:pt>
    <dgm:pt modelId="{14B80123-C96C-4FBA-9CBB-A37001FC4399}" type="sibTrans" cxnId="{A48514D7-816B-4A04-BA3D-B86C81AB42C2}">
      <dgm:prSet/>
      <dgm:spPr/>
      <dgm:t>
        <a:bodyPr/>
        <a:lstStyle/>
        <a:p>
          <a:endParaRPr lang="en-US"/>
        </a:p>
      </dgm:t>
    </dgm:pt>
    <dgm:pt modelId="{0766C8D0-71BB-471A-917D-F18478589DFB}" type="pres">
      <dgm:prSet presAssocID="{2816D891-584E-4381-A76E-1585F26FECE6}" presName="root" presStyleCnt="0">
        <dgm:presLayoutVars>
          <dgm:dir/>
          <dgm:resizeHandles val="exact"/>
        </dgm:presLayoutVars>
      </dgm:prSet>
      <dgm:spPr/>
    </dgm:pt>
    <dgm:pt modelId="{0EE62D0F-8269-419B-8C56-8A08E528F2B4}" type="pres">
      <dgm:prSet presAssocID="{BEB98D04-C437-4AF7-9F37-E23B8C270B52}" presName="compNode" presStyleCnt="0"/>
      <dgm:spPr/>
    </dgm:pt>
    <dgm:pt modelId="{82C6FA5D-EA2F-46EF-BD74-886DDAA8B4CE}" type="pres">
      <dgm:prSet presAssocID="{BEB98D04-C437-4AF7-9F37-E23B8C270B52}" presName="bgRect" presStyleLbl="bgShp" presStyleIdx="0" presStyleCnt="2"/>
      <dgm:spPr/>
    </dgm:pt>
    <dgm:pt modelId="{A9ADFCD2-D428-46E7-8370-8442A067BBA2}" type="pres">
      <dgm:prSet presAssocID="{BEB98D04-C437-4AF7-9F37-E23B8C270B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пьютер"/>
        </a:ext>
      </dgm:extLst>
    </dgm:pt>
    <dgm:pt modelId="{3116A7FE-C000-468B-8122-8D33A71FB211}" type="pres">
      <dgm:prSet presAssocID="{BEB98D04-C437-4AF7-9F37-E23B8C270B52}" presName="spaceRect" presStyleCnt="0"/>
      <dgm:spPr/>
    </dgm:pt>
    <dgm:pt modelId="{118259FA-D7A8-411E-AD90-90B386765CDA}" type="pres">
      <dgm:prSet presAssocID="{BEB98D04-C437-4AF7-9F37-E23B8C270B52}" presName="parTx" presStyleLbl="revTx" presStyleIdx="0" presStyleCnt="2">
        <dgm:presLayoutVars>
          <dgm:chMax val="0"/>
          <dgm:chPref val="0"/>
        </dgm:presLayoutVars>
      </dgm:prSet>
      <dgm:spPr/>
    </dgm:pt>
    <dgm:pt modelId="{A173F793-FAF1-440F-BEA3-3725BFC82FB9}" type="pres">
      <dgm:prSet presAssocID="{841E2DD0-47A8-4FCE-833B-DF3720B87CB0}" presName="sibTrans" presStyleCnt="0"/>
      <dgm:spPr/>
    </dgm:pt>
    <dgm:pt modelId="{B5478B90-7145-48C5-B316-9A56C3676A88}" type="pres">
      <dgm:prSet presAssocID="{61FB4228-A174-48BA-9062-03FB25DC3CD1}" presName="compNode" presStyleCnt="0"/>
      <dgm:spPr/>
    </dgm:pt>
    <dgm:pt modelId="{E4B99B1B-5335-4CF7-919C-9139B2D8880A}" type="pres">
      <dgm:prSet presAssocID="{61FB4228-A174-48BA-9062-03FB25DC3CD1}" presName="bgRect" presStyleLbl="bgShp" presStyleIdx="1" presStyleCnt="2"/>
      <dgm:spPr/>
    </dgm:pt>
    <dgm:pt modelId="{E6EB5286-20CD-4009-87CC-D6F89DA91EA1}" type="pres">
      <dgm:prSet presAssocID="{61FB4228-A174-48BA-9062-03FB25DC3C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2875D0E7-0438-4B3A-B0F2-881D7508B85B}" type="pres">
      <dgm:prSet presAssocID="{61FB4228-A174-48BA-9062-03FB25DC3CD1}" presName="spaceRect" presStyleCnt="0"/>
      <dgm:spPr/>
    </dgm:pt>
    <dgm:pt modelId="{11C26D9E-8B2F-4B3D-A3CC-B22158786DEC}" type="pres">
      <dgm:prSet presAssocID="{61FB4228-A174-48BA-9062-03FB25DC3CD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CE01301-FCCD-418D-B9D0-385919EB78A7}" srcId="{2816D891-584E-4381-A76E-1585F26FECE6}" destId="{BEB98D04-C437-4AF7-9F37-E23B8C270B52}" srcOrd="0" destOrd="0" parTransId="{3F7928BE-C947-4228-99DA-04A2052AF1AD}" sibTransId="{841E2DD0-47A8-4FCE-833B-DF3720B87CB0}"/>
    <dgm:cxn modelId="{E723227C-4B0D-47EB-8784-FAD27BC29A66}" type="presOf" srcId="{61FB4228-A174-48BA-9062-03FB25DC3CD1}" destId="{11C26D9E-8B2F-4B3D-A3CC-B22158786DEC}" srcOrd="0" destOrd="0" presId="urn:microsoft.com/office/officeart/2018/2/layout/IconVerticalSolidList"/>
    <dgm:cxn modelId="{982DE387-CF08-4583-AF84-1CBC4445795C}" type="presOf" srcId="{2816D891-584E-4381-A76E-1585F26FECE6}" destId="{0766C8D0-71BB-471A-917D-F18478589DFB}" srcOrd="0" destOrd="0" presId="urn:microsoft.com/office/officeart/2018/2/layout/IconVerticalSolidList"/>
    <dgm:cxn modelId="{D3E3888C-0045-4375-9993-5354F71B7FCB}" type="presOf" srcId="{BEB98D04-C437-4AF7-9F37-E23B8C270B52}" destId="{118259FA-D7A8-411E-AD90-90B386765CDA}" srcOrd="0" destOrd="0" presId="urn:microsoft.com/office/officeart/2018/2/layout/IconVerticalSolidList"/>
    <dgm:cxn modelId="{A48514D7-816B-4A04-BA3D-B86C81AB42C2}" srcId="{2816D891-584E-4381-A76E-1585F26FECE6}" destId="{61FB4228-A174-48BA-9062-03FB25DC3CD1}" srcOrd="1" destOrd="0" parTransId="{F15C85ED-C4C3-4BBA-B6CA-932097F9E94F}" sibTransId="{14B80123-C96C-4FBA-9CBB-A37001FC4399}"/>
    <dgm:cxn modelId="{CC4036C1-5FDE-42B5-9116-CEDA5795EC59}" type="presParOf" srcId="{0766C8D0-71BB-471A-917D-F18478589DFB}" destId="{0EE62D0F-8269-419B-8C56-8A08E528F2B4}" srcOrd="0" destOrd="0" presId="urn:microsoft.com/office/officeart/2018/2/layout/IconVerticalSolidList"/>
    <dgm:cxn modelId="{34BBA3EA-6026-41F8-A993-FB516BBE20E5}" type="presParOf" srcId="{0EE62D0F-8269-419B-8C56-8A08E528F2B4}" destId="{82C6FA5D-EA2F-46EF-BD74-886DDAA8B4CE}" srcOrd="0" destOrd="0" presId="urn:microsoft.com/office/officeart/2018/2/layout/IconVerticalSolidList"/>
    <dgm:cxn modelId="{86512CCF-1829-4D3F-8AEC-DCF6F5F182A8}" type="presParOf" srcId="{0EE62D0F-8269-419B-8C56-8A08E528F2B4}" destId="{A9ADFCD2-D428-46E7-8370-8442A067BBA2}" srcOrd="1" destOrd="0" presId="urn:microsoft.com/office/officeart/2018/2/layout/IconVerticalSolidList"/>
    <dgm:cxn modelId="{B34C9F4C-0B34-46E1-A1AF-6530B63E464B}" type="presParOf" srcId="{0EE62D0F-8269-419B-8C56-8A08E528F2B4}" destId="{3116A7FE-C000-468B-8122-8D33A71FB211}" srcOrd="2" destOrd="0" presId="urn:microsoft.com/office/officeart/2018/2/layout/IconVerticalSolidList"/>
    <dgm:cxn modelId="{DA53B382-544A-42DE-B54B-332296B69A20}" type="presParOf" srcId="{0EE62D0F-8269-419B-8C56-8A08E528F2B4}" destId="{118259FA-D7A8-411E-AD90-90B386765CDA}" srcOrd="3" destOrd="0" presId="urn:microsoft.com/office/officeart/2018/2/layout/IconVerticalSolidList"/>
    <dgm:cxn modelId="{3D14B290-EC6E-4F6A-822E-98E0AC10D38A}" type="presParOf" srcId="{0766C8D0-71BB-471A-917D-F18478589DFB}" destId="{A173F793-FAF1-440F-BEA3-3725BFC82FB9}" srcOrd="1" destOrd="0" presId="urn:microsoft.com/office/officeart/2018/2/layout/IconVerticalSolidList"/>
    <dgm:cxn modelId="{5DA156EC-8AA6-4C7B-9F5A-496907338319}" type="presParOf" srcId="{0766C8D0-71BB-471A-917D-F18478589DFB}" destId="{B5478B90-7145-48C5-B316-9A56C3676A88}" srcOrd="2" destOrd="0" presId="urn:microsoft.com/office/officeart/2018/2/layout/IconVerticalSolidList"/>
    <dgm:cxn modelId="{42256DE5-08AC-4791-B6C4-7DBC12A61CED}" type="presParOf" srcId="{B5478B90-7145-48C5-B316-9A56C3676A88}" destId="{E4B99B1B-5335-4CF7-919C-9139B2D8880A}" srcOrd="0" destOrd="0" presId="urn:microsoft.com/office/officeart/2018/2/layout/IconVerticalSolidList"/>
    <dgm:cxn modelId="{D35B0BB2-CE26-438B-A1B1-5BC756C7524E}" type="presParOf" srcId="{B5478B90-7145-48C5-B316-9A56C3676A88}" destId="{E6EB5286-20CD-4009-87CC-D6F89DA91EA1}" srcOrd="1" destOrd="0" presId="urn:microsoft.com/office/officeart/2018/2/layout/IconVerticalSolidList"/>
    <dgm:cxn modelId="{CB3A8CBE-1F97-49EB-8B88-0812A0567F02}" type="presParOf" srcId="{B5478B90-7145-48C5-B316-9A56C3676A88}" destId="{2875D0E7-0438-4B3A-B0F2-881D7508B85B}" srcOrd="2" destOrd="0" presId="urn:microsoft.com/office/officeart/2018/2/layout/IconVerticalSolidList"/>
    <dgm:cxn modelId="{1BDB26F2-EA45-4366-BCAF-444A684F855C}" type="presParOf" srcId="{B5478B90-7145-48C5-B316-9A56C3676A88}" destId="{11C26D9E-8B2F-4B3D-A3CC-B22158786D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4BECA7-8B5B-44E0-A54C-C71CDD109D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F76511-87D8-462C-97BB-CCC87DAA495C}">
      <dgm:prSet/>
      <dgm:spPr/>
      <dgm:t>
        <a:bodyPr/>
        <a:lstStyle/>
        <a:p>
          <a:r>
            <a:rPr lang="ru-RU"/>
            <a:t>Протокольная передача: файл разбивается на чанки, SHA-256 контроль целостности, подтверждение завершения, retry при ошибках. </a:t>
          </a:r>
          <a:endParaRPr lang="en-US"/>
        </a:p>
      </dgm:t>
    </dgm:pt>
    <dgm:pt modelId="{57F32761-600C-4FB7-AD76-025A1EC0A9DB}" type="parTrans" cxnId="{B20511FE-0B25-44A2-A3ED-C742225AB14E}">
      <dgm:prSet/>
      <dgm:spPr/>
      <dgm:t>
        <a:bodyPr/>
        <a:lstStyle/>
        <a:p>
          <a:endParaRPr lang="en-US"/>
        </a:p>
      </dgm:t>
    </dgm:pt>
    <dgm:pt modelId="{4577C8C7-B671-4955-9B7D-2F9BEA0E718D}" type="sibTrans" cxnId="{B20511FE-0B25-44A2-A3ED-C742225AB14E}">
      <dgm:prSet/>
      <dgm:spPr/>
      <dgm:t>
        <a:bodyPr/>
        <a:lstStyle/>
        <a:p>
          <a:endParaRPr lang="en-US"/>
        </a:p>
      </dgm:t>
    </dgm:pt>
    <dgm:pt modelId="{CFC7D954-7786-453C-8F47-AC6854CAA038}">
      <dgm:prSet/>
      <dgm:spPr/>
      <dgm:t>
        <a:bodyPr/>
        <a:lstStyle/>
        <a:p>
          <a:r>
            <a:rPr lang="ru-RU"/>
            <a:t>Resume — продолжение передачи по offset с проверкой хеша уже полученной части. </a:t>
          </a:r>
          <a:endParaRPr lang="en-US"/>
        </a:p>
      </dgm:t>
    </dgm:pt>
    <dgm:pt modelId="{89AE21D0-B5D8-4EB3-B3D7-540BBBF6289F}" type="parTrans" cxnId="{4A242C7B-5550-42D1-9E0B-EF6C506BD68E}">
      <dgm:prSet/>
      <dgm:spPr/>
      <dgm:t>
        <a:bodyPr/>
        <a:lstStyle/>
        <a:p>
          <a:endParaRPr lang="en-US"/>
        </a:p>
      </dgm:t>
    </dgm:pt>
    <dgm:pt modelId="{7A6B7516-FBAA-41E5-AA7C-0BBC155701A1}" type="sibTrans" cxnId="{4A242C7B-5550-42D1-9E0B-EF6C506BD68E}">
      <dgm:prSet/>
      <dgm:spPr/>
      <dgm:t>
        <a:bodyPr/>
        <a:lstStyle/>
        <a:p>
          <a:endParaRPr lang="en-US"/>
        </a:p>
      </dgm:t>
    </dgm:pt>
    <dgm:pt modelId="{E373EA23-EEAD-4A13-A083-5F8804EC9C31}">
      <dgm:prSet/>
      <dgm:spPr/>
      <dgm:t>
        <a:bodyPr/>
        <a:lstStyle/>
        <a:p>
          <a:r>
            <a:rPr lang="ru-RU"/>
            <a:t>Ограничение нагрузки: лимит активных отправок и параллелизма, чтобы не «убивать» канал чата и звонков. Демо: отправка файла → прогресс-бар → итоговый SHA-256.</a:t>
          </a:r>
          <a:endParaRPr lang="en-US"/>
        </a:p>
      </dgm:t>
    </dgm:pt>
    <dgm:pt modelId="{80F5A2D6-E324-49B7-8804-9423C047A94E}" type="parTrans" cxnId="{DE0C9934-4C7D-4FBE-9CE1-35F9E1D94C69}">
      <dgm:prSet/>
      <dgm:spPr/>
      <dgm:t>
        <a:bodyPr/>
        <a:lstStyle/>
        <a:p>
          <a:endParaRPr lang="en-US"/>
        </a:p>
      </dgm:t>
    </dgm:pt>
    <dgm:pt modelId="{7B86B6B5-FEC1-4069-8B0B-8EA9FA68EC6D}" type="sibTrans" cxnId="{DE0C9934-4C7D-4FBE-9CE1-35F9E1D94C69}">
      <dgm:prSet/>
      <dgm:spPr/>
      <dgm:t>
        <a:bodyPr/>
        <a:lstStyle/>
        <a:p>
          <a:endParaRPr lang="en-US"/>
        </a:p>
      </dgm:t>
    </dgm:pt>
    <dgm:pt modelId="{A710460C-21B5-4A2C-BE4A-8FC3D3CEFDB1}" type="pres">
      <dgm:prSet presAssocID="{AB4BECA7-8B5B-44E0-A54C-C71CDD109D75}" presName="linear" presStyleCnt="0">
        <dgm:presLayoutVars>
          <dgm:animLvl val="lvl"/>
          <dgm:resizeHandles val="exact"/>
        </dgm:presLayoutVars>
      </dgm:prSet>
      <dgm:spPr/>
    </dgm:pt>
    <dgm:pt modelId="{705B0600-8406-49A0-B34C-ACDF343F42BA}" type="pres">
      <dgm:prSet presAssocID="{4CF76511-87D8-462C-97BB-CCC87DAA49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0F61710-E310-4419-A660-00D8A93F755A}" type="pres">
      <dgm:prSet presAssocID="{4577C8C7-B671-4955-9B7D-2F9BEA0E718D}" presName="spacer" presStyleCnt="0"/>
      <dgm:spPr/>
    </dgm:pt>
    <dgm:pt modelId="{FE4C34DE-224B-4471-AA06-0F5E57617FB1}" type="pres">
      <dgm:prSet presAssocID="{CFC7D954-7786-453C-8F47-AC6854CAA0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BC8FE1-303D-4FB0-9960-993C1A471223}" type="pres">
      <dgm:prSet presAssocID="{7A6B7516-FBAA-41E5-AA7C-0BBC155701A1}" presName="spacer" presStyleCnt="0"/>
      <dgm:spPr/>
    </dgm:pt>
    <dgm:pt modelId="{A27700BF-DAA7-4BB1-8A05-9EA981A1637D}" type="pres">
      <dgm:prSet presAssocID="{E373EA23-EEAD-4A13-A083-5F8804EC9C3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0C9934-4C7D-4FBE-9CE1-35F9E1D94C69}" srcId="{AB4BECA7-8B5B-44E0-A54C-C71CDD109D75}" destId="{E373EA23-EEAD-4A13-A083-5F8804EC9C31}" srcOrd="2" destOrd="0" parTransId="{80F5A2D6-E324-49B7-8804-9423C047A94E}" sibTransId="{7B86B6B5-FEC1-4069-8B0B-8EA9FA68EC6D}"/>
    <dgm:cxn modelId="{CFC5733C-9B6B-4A90-9CD4-B01CA408978D}" type="presOf" srcId="{E373EA23-EEAD-4A13-A083-5F8804EC9C31}" destId="{A27700BF-DAA7-4BB1-8A05-9EA981A1637D}" srcOrd="0" destOrd="0" presId="urn:microsoft.com/office/officeart/2005/8/layout/vList2"/>
    <dgm:cxn modelId="{4A242C7B-5550-42D1-9E0B-EF6C506BD68E}" srcId="{AB4BECA7-8B5B-44E0-A54C-C71CDD109D75}" destId="{CFC7D954-7786-453C-8F47-AC6854CAA038}" srcOrd="1" destOrd="0" parTransId="{89AE21D0-B5D8-4EB3-B3D7-540BBBF6289F}" sibTransId="{7A6B7516-FBAA-41E5-AA7C-0BBC155701A1}"/>
    <dgm:cxn modelId="{8290A589-F6F1-47B4-A8CE-B3086BA70BFD}" type="presOf" srcId="{CFC7D954-7786-453C-8F47-AC6854CAA038}" destId="{FE4C34DE-224B-4471-AA06-0F5E57617FB1}" srcOrd="0" destOrd="0" presId="urn:microsoft.com/office/officeart/2005/8/layout/vList2"/>
    <dgm:cxn modelId="{6B73B991-18BF-489E-8CC9-9A23A5D042DF}" type="presOf" srcId="{AB4BECA7-8B5B-44E0-A54C-C71CDD109D75}" destId="{A710460C-21B5-4A2C-BE4A-8FC3D3CEFDB1}" srcOrd="0" destOrd="0" presId="urn:microsoft.com/office/officeart/2005/8/layout/vList2"/>
    <dgm:cxn modelId="{AAF750ED-02A5-481D-A1CE-5586EC3D1A09}" type="presOf" srcId="{4CF76511-87D8-462C-97BB-CCC87DAA495C}" destId="{705B0600-8406-49A0-B34C-ACDF343F42BA}" srcOrd="0" destOrd="0" presId="urn:microsoft.com/office/officeart/2005/8/layout/vList2"/>
    <dgm:cxn modelId="{B20511FE-0B25-44A2-A3ED-C742225AB14E}" srcId="{AB4BECA7-8B5B-44E0-A54C-C71CDD109D75}" destId="{4CF76511-87D8-462C-97BB-CCC87DAA495C}" srcOrd="0" destOrd="0" parTransId="{57F32761-600C-4FB7-AD76-025A1EC0A9DB}" sibTransId="{4577C8C7-B671-4955-9B7D-2F9BEA0E718D}"/>
    <dgm:cxn modelId="{5041A676-CF49-4B63-9AB7-2C8035190BE6}" type="presParOf" srcId="{A710460C-21B5-4A2C-BE4A-8FC3D3CEFDB1}" destId="{705B0600-8406-49A0-B34C-ACDF343F42BA}" srcOrd="0" destOrd="0" presId="urn:microsoft.com/office/officeart/2005/8/layout/vList2"/>
    <dgm:cxn modelId="{4AF39BE3-225F-4E29-BD8B-60049AF0B0D8}" type="presParOf" srcId="{A710460C-21B5-4A2C-BE4A-8FC3D3CEFDB1}" destId="{E0F61710-E310-4419-A660-00D8A93F755A}" srcOrd="1" destOrd="0" presId="urn:microsoft.com/office/officeart/2005/8/layout/vList2"/>
    <dgm:cxn modelId="{54CF8878-CF8F-440F-83F5-ECD8BD01E488}" type="presParOf" srcId="{A710460C-21B5-4A2C-BE4A-8FC3D3CEFDB1}" destId="{FE4C34DE-224B-4471-AA06-0F5E57617FB1}" srcOrd="2" destOrd="0" presId="urn:microsoft.com/office/officeart/2005/8/layout/vList2"/>
    <dgm:cxn modelId="{7D830F9C-27FE-4801-BA87-0E817B2915F9}" type="presParOf" srcId="{A710460C-21B5-4A2C-BE4A-8FC3D3CEFDB1}" destId="{33BC8FE1-303D-4FB0-9960-993C1A471223}" srcOrd="3" destOrd="0" presId="urn:microsoft.com/office/officeart/2005/8/layout/vList2"/>
    <dgm:cxn modelId="{1980690C-D504-4F0A-A902-A31664CBC9F1}" type="presParOf" srcId="{A710460C-21B5-4A2C-BE4A-8FC3D3CEFDB1}" destId="{A27700BF-DAA7-4BB1-8A05-9EA981A163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3FF34-6F2D-44C3-A857-CB52A56947F9}">
      <dsp:nvSpPr>
        <dsp:cNvPr id="0" name=""/>
        <dsp:cNvSpPr/>
      </dsp:nvSpPr>
      <dsp:spPr>
        <a:xfrm>
          <a:off x="0" y="283318"/>
          <a:ext cx="6949440" cy="2574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Python 3.10+, Flask + Socket.IO (web/API), UDP (discovery), TCP (messaging + file transfer), WebRTC (</a:t>
          </a:r>
          <a:r>
            <a:rPr lang="ru-RU" sz="2500" kern="1200"/>
            <a:t>голос/видео в браузере), криптография </a:t>
          </a:r>
          <a:r>
            <a:rPr lang="en-US" sz="2500" kern="1200"/>
            <a:t>X25519 + AES-256-GCM + Ed25519, SQLite (WAL) </a:t>
          </a:r>
          <a:r>
            <a:rPr lang="ru-RU" sz="2500" kern="1200"/>
            <a:t>для хранения. </a:t>
          </a:r>
          <a:r>
            <a:rPr lang="en-US" sz="2500" kern="1200"/>
            <a:t>SPA-</a:t>
          </a:r>
          <a:r>
            <a:rPr lang="ru-RU" sz="2500" kern="1200"/>
            <a:t>интерфейс в одном </a:t>
          </a:r>
          <a:r>
            <a:rPr lang="en-US" sz="2500" kern="1200"/>
            <a:t>HTML-</a:t>
          </a:r>
          <a:r>
            <a:rPr lang="ru-RU" sz="2500" kern="1200"/>
            <a:t>файле. </a:t>
          </a:r>
          <a:endParaRPr lang="en-US" sz="2500" kern="1200"/>
        </a:p>
      </dsp:txBody>
      <dsp:txXfrm>
        <a:off x="125652" y="408970"/>
        <a:ext cx="6698136" cy="2322696"/>
      </dsp:txXfrm>
    </dsp:sp>
    <dsp:sp modelId="{2602A074-8A27-4874-9DDD-40B4D55A9EFB}">
      <dsp:nvSpPr>
        <dsp:cNvPr id="0" name=""/>
        <dsp:cNvSpPr/>
      </dsp:nvSpPr>
      <dsp:spPr>
        <a:xfrm>
          <a:off x="0" y="2929318"/>
          <a:ext cx="6949440" cy="257400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Обоснование: низкий порог запуска, кроссплатформенность через браузер, полный контроль над протоколами.</a:t>
          </a:r>
          <a:endParaRPr lang="en-US" sz="2500" kern="1200"/>
        </a:p>
      </dsp:txBody>
      <dsp:txXfrm>
        <a:off x="125652" y="3054970"/>
        <a:ext cx="6698136" cy="23226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6FA5D-EA2F-46EF-BD74-886DDAA8B4CE}">
      <dsp:nvSpPr>
        <dsp:cNvPr id="0" name=""/>
        <dsp:cNvSpPr/>
      </dsp:nvSpPr>
      <dsp:spPr>
        <a:xfrm>
          <a:off x="0" y="660795"/>
          <a:ext cx="10335350" cy="12199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DFCD2-D428-46E7-8370-8442A067BBA2}">
      <dsp:nvSpPr>
        <dsp:cNvPr id="0" name=""/>
        <dsp:cNvSpPr/>
      </dsp:nvSpPr>
      <dsp:spPr>
        <a:xfrm>
          <a:off x="369028" y="935279"/>
          <a:ext cx="670961" cy="6709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259FA-D7A8-411E-AD90-90B386765CDA}">
      <dsp:nvSpPr>
        <dsp:cNvPr id="0" name=""/>
        <dsp:cNvSpPr/>
      </dsp:nvSpPr>
      <dsp:spPr>
        <a:xfrm>
          <a:off x="1409018" y="660795"/>
          <a:ext cx="8926331" cy="121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09" tIns="129109" rIns="129109" bIns="12910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Текстовый обмен через </a:t>
          </a:r>
          <a:r>
            <a:rPr lang="en-US" sz="1700" kern="1200"/>
            <a:t>TCP </a:t>
          </a:r>
          <a:r>
            <a:rPr lang="ru-RU" sz="1700" kern="1200"/>
            <a:t>с полным циклом доставки: </a:t>
          </a:r>
          <a:r>
            <a:rPr lang="en-US" sz="1700" kern="1200"/>
            <a:t>msg_id </a:t>
          </a:r>
          <a:r>
            <a:rPr lang="ru-RU" sz="1700" kern="1200"/>
            <a:t>для дедупликации, </a:t>
          </a:r>
          <a:r>
            <a:rPr lang="en-US" sz="1700" kern="1200"/>
            <a:t>ACK-</a:t>
          </a:r>
          <a:r>
            <a:rPr lang="ru-RU" sz="1700" kern="1200"/>
            <a:t>подтверждения, </a:t>
          </a:r>
          <a:r>
            <a:rPr lang="en-US" sz="1700" kern="1200"/>
            <a:t>retry </a:t>
          </a:r>
          <a:r>
            <a:rPr lang="ru-RU" sz="1700" kern="1200"/>
            <a:t>с </a:t>
          </a:r>
          <a:r>
            <a:rPr lang="en-US" sz="1700" kern="1200"/>
            <a:t>backoff, outbox-</a:t>
          </a:r>
          <a:r>
            <a:rPr lang="ru-RU" sz="1700" kern="1200"/>
            <a:t>очередь для недоступных пиров, </a:t>
          </a:r>
          <a:r>
            <a:rPr lang="en-US" sz="1700" kern="1200"/>
            <a:t>backpressure. </a:t>
          </a:r>
          <a:r>
            <a:rPr lang="ru-RU" sz="1700" kern="1200"/>
            <a:t>Мультихоп-ретрансляция: </a:t>
          </a:r>
          <a:r>
            <a:rPr lang="en-US" sz="1700" kern="1200"/>
            <a:t>flooding </a:t>
          </a:r>
          <a:r>
            <a:rPr lang="ru-RU" sz="1700" kern="1200"/>
            <a:t>с </a:t>
          </a:r>
          <a:r>
            <a:rPr lang="en-US" sz="1700" kern="1200"/>
            <a:t>TTL </a:t>
          </a:r>
          <a:r>
            <a:rPr lang="ru-RU" sz="1700" kern="1200"/>
            <a:t>и </a:t>
          </a:r>
          <a:r>
            <a:rPr lang="en-US" sz="1700" kern="1200"/>
            <a:t>relay path </a:t>
          </a:r>
          <a:r>
            <a:rPr lang="ru-RU" sz="1700" kern="1200"/>
            <a:t>для защиты от петель.</a:t>
          </a:r>
          <a:endParaRPr lang="en-US" sz="1700" kern="1200"/>
        </a:p>
      </dsp:txBody>
      <dsp:txXfrm>
        <a:off x="1409018" y="660795"/>
        <a:ext cx="8926331" cy="1219929"/>
      </dsp:txXfrm>
    </dsp:sp>
    <dsp:sp modelId="{E4B99B1B-5335-4CF7-919C-9139B2D8880A}">
      <dsp:nvSpPr>
        <dsp:cNvPr id="0" name=""/>
        <dsp:cNvSpPr/>
      </dsp:nvSpPr>
      <dsp:spPr>
        <a:xfrm>
          <a:off x="0" y="2185706"/>
          <a:ext cx="10335350" cy="12199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B5286-20CD-4009-87CC-D6F89DA91EA1}">
      <dsp:nvSpPr>
        <dsp:cNvPr id="0" name=""/>
        <dsp:cNvSpPr/>
      </dsp:nvSpPr>
      <dsp:spPr>
        <a:xfrm>
          <a:off x="369028" y="2460190"/>
          <a:ext cx="670961" cy="6709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26D9E-8B2F-4B3D-A3CC-B22158786DEC}">
      <dsp:nvSpPr>
        <dsp:cNvPr id="0" name=""/>
        <dsp:cNvSpPr/>
      </dsp:nvSpPr>
      <dsp:spPr>
        <a:xfrm>
          <a:off x="1409018" y="2185706"/>
          <a:ext cx="8926331" cy="121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09" tIns="129109" rIns="129109" bIns="12910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Демо: </a:t>
          </a:r>
          <a:r>
            <a:rPr lang="en-US" sz="1700" kern="1200"/>
            <a:t>A↔B </a:t>
          </a:r>
          <a:r>
            <a:rPr lang="ru-RU" sz="1700" kern="1200"/>
            <a:t>прямой чат + </a:t>
          </a:r>
          <a:r>
            <a:rPr lang="en-US" sz="1700" kern="1200"/>
            <a:t>A→C </a:t>
          </a:r>
          <a:r>
            <a:rPr lang="ru-RU" sz="1700" kern="1200"/>
            <a:t>через </a:t>
          </a:r>
          <a:r>
            <a:rPr lang="en-US" sz="1700" kern="1200"/>
            <a:t>B (</a:t>
          </a:r>
          <a:r>
            <a:rPr lang="ru-RU" sz="1700" kern="1200"/>
            <a:t>ретранслятор).</a:t>
          </a:r>
          <a:endParaRPr lang="en-US" sz="1700" kern="1200"/>
        </a:p>
      </dsp:txBody>
      <dsp:txXfrm>
        <a:off x="1409018" y="2185706"/>
        <a:ext cx="8926331" cy="12199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B0600-8406-49A0-B34C-ACDF343F42BA}">
      <dsp:nvSpPr>
        <dsp:cNvPr id="0" name=""/>
        <dsp:cNvSpPr/>
      </dsp:nvSpPr>
      <dsp:spPr>
        <a:xfrm>
          <a:off x="0" y="26090"/>
          <a:ext cx="10653579" cy="1463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/>
            <a:t>Протокольная передача: файл разбивается на чанки, SHA-256 контроль целостности, подтверждение завершения, retry при ошибках. </a:t>
          </a:r>
          <a:endParaRPr lang="en-US" sz="2600" kern="1200"/>
        </a:p>
      </dsp:txBody>
      <dsp:txXfrm>
        <a:off x="71465" y="97555"/>
        <a:ext cx="10510649" cy="1321032"/>
      </dsp:txXfrm>
    </dsp:sp>
    <dsp:sp modelId="{FE4C34DE-224B-4471-AA06-0F5E57617FB1}">
      <dsp:nvSpPr>
        <dsp:cNvPr id="0" name=""/>
        <dsp:cNvSpPr/>
      </dsp:nvSpPr>
      <dsp:spPr>
        <a:xfrm>
          <a:off x="0" y="1564932"/>
          <a:ext cx="10653579" cy="1463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/>
            <a:t>Resume — продолжение передачи по offset с проверкой хеша уже полученной части. </a:t>
          </a:r>
          <a:endParaRPr lang="en-US" sz="2600" kern="1200"/>
        </a:p>
      </dsp:txBody>
      <dsp:txXfrm>
        <a:off x="71465" y="1636397"/>
        <a:ext cx="10510649" cy="1321032"/>
      </dsp:txXfrm>
    </dsp:sp>
    <dsp:sp modelId="{A27700BF-DAA7-4BB1-8A05-9EA981A1637D}">
      <dsp:nvSpPr>
        <dsp:cNvPr id="0" name=""/>
        <dsp:cNvSpPr/>
      </dsp:nvSpPr>
      <dsp:spPr>
        <a:xfrm>
          <a:off x="0" y="3103775"/>
          <a:ext cx="10653579" cy="1463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/>
            <a:t>Ограничение нагрузки: лимит активных отправок и параллелизма, чтобы не «убивать» канал чата и звонков. Демо: отправка файла → прогресс-бар → итоговый SHA-256.</a:t>
          </a:r>
          <a:endParaRPr lang="en-US" sz="2600" kern="1200"/>
        </a:p>
      </dsp:txBody>
      <dsp:txXfrm>
        <a:off x="71465" y="3175240"/>
        <a:ext cx="10510649" cy="1321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9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7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8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0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7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4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2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5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6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2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CCBB8-208D-15DB-567F-4B15E0C3D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420" y="1387927"/>
            <a:ext cx="3212502" cy="19427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MeshLink – мессенджер для тебя, когда интернет упал</a:t>
            </a: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11607202-14D2-87C2-D6A5-F52342B8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31" r="9316" b="2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3141CD-960E-32ED-8FEF-3614D805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0420" y="3412998"/>
            <a:ext cx="3212502" cy="276736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ru-RU" dirty="0"/>
              <a:t>Команда - Молоток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Участники</a:t>
            </a:r>
            <a:r>
              <a:rPr lang="en-US" dirty="0"/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Голубев</a:t>
            </a:r>
            <a:r>
              <a:rPr lang="en-US" dirty="0"/>
              <a:t> </a:t>
            </a:r>
            <a:r>
              <a:rPr lang="en-US" dirty="0" err="1"/>
              <a:t>Павел</a:t>
            </a:r>
            <a:r>
              <a:rPr lang="en-US" dirty="0"/>
              <a:t>, </a:t>
            </a:r>
            <a:endParaRPr lang="ru-RU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Кузнецов Пётр, </a:t>
            </a:r>
            <a:endParaRPr lang="ru-RU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Лихатин</a:t>
            </a:r>
            <a:r>
              <a:rPr lang="en-US" dirty="0"/>
              <a:t> </a:t>
            </a:r>
            <a:r>
              <a:rPr lang="en-US" dirty="0" err="1"/>
              <a:t>Андрей</a:t>
            </a:r>
            <a:r>
              <a:rPr lang="en-US" dirty="0"/>
              <a:t>, </a:t>
            </a:r>
            <a:endParaRPr lang="ru-RU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Максимов</a:t>
            </a:r>
            <a:r>
              <a:rPr lang="en-US" dirty="0"/>
              <a:t> </a:t>
            </a:r>
            <a:r>
              <a:rPr lang="en-US" dirty="0" err="1"/>
              <a:t>Тимофей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1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692D5-D597-7F8E-66E0-A46714FF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ru-RU"/>
              <a:t>Проблема и цель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2769E5C-5319-F324-C979-D9A813E46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ru-RU" sz="1800"/>
              <a:t>Централизованная инфраструктура (серверы, облака, мобильная связь) не всегда доступна: перегрузка сети на массовых мероприятиях, закрытые площадки, аварийные сценарии. </a:t>
            </a:r>
          </a:p>
          <a:p>
            <a:r>
              <a:rPr lang="ru-RU" sz="1800"/>
              <a:t>Наше решение — децентрализованная система связи, которая обеспечивает чат, передачу файлов и голосовые вызовы напрямую между устройствами в локальной сети без центрального сервера.</a:t>
            </a:r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A09FE237-2D52-851D-F127-A35501092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6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4A2A0-C2C0-C793-F514-69CD4B97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ru-RU" sz="4000"/>
              <a:t>Стек технологий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952268E-1B4D-DAF9-39F8-9F60D91E79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82628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2703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4E035-DFE9-A007-E375-A06F0FE4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ru-RU" dirty="0"/>
              <a:t>Архитектура и топология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6B100B-733C-7E49-E47B-F865657D1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1500"/>
              <a:t>Модульная архитектура: </a:t>
            </a:r>
          </a:p>
          <a:p>
            <a:pPr>
              <a:lnSpc>
                <a:spcPct val="110000"/>
              </a:lnSpc>
            </a:pPr>
            <a:r>
              <a:rPr lang="en-US" sz="1500"/>
              <a:t>node.py — </a:t>
            </a:r>
            <a:r>
              <a:rPr lang="ru-RU" sz="1500"/>
              <a:t>оркестратор, отдельные модули </a:t>
            </a:r>
            <a:r>
              <a:rPr lang="en-US" sz="1500"/>
              <a:t>discovery, messaging, file_transfer, media, crypto, storage. </a:t>
            </a:r>
            <a:endParaRPr lang="ru-RU" sz="1500"/>
          </a:p>
          <a:p>
            <a:pPr>
              <a:lnSpc>
                <a:spcPct val="110000"/>
              </a:lnSpc>
            </a:pPr>
            <a:r>
              <a:rPr lang="ru-RU" sz="1500"/>
              <a:t>Топология — </a:t>
            </a:r>
            <a:r>
              <a:rPr lang="en-US" sz="1500"/>
              <a:t>mesh </a:t>
            </a:r>
            <a:r>
              <a:rPr lang="ru-RU" sz="1500"/>
              <a:t>в пределах </a:t>
            </a:r>
            <a:r>
              <a:rPr lang="en-US" sz="1500"/>
              <a:t>LAN: </a:t>
            </a:r>
            <a:r>
              <a:rPr lang="ru-RU" sz="1500"/>
              <a:t>узлы обнаруживаются динамически через </a:t>
            </a:r>
            <a:r>
              <a:rPr lang="en-US" sz="1500"/>
              <a:t>UDP broadcast, </a:t>
            </a:r>
            <a:r>
              <a:rPr lang="ru-RU" sz="1500"/>
              <a:t>при таймауте помечаются </a:t>
            </a:r>
            <a:r>
              <a:rPr lang="en-US" sz="1500"/>
              <a:t>offline, </a:t>
            </a:r>
            <a:r>
              <a:rPr lang="ru-RU" sz="1500"/>
              <a:t>при отсутствии прямого канала — ретрансляция через промежуточные узлы. </a:t>
            </a:r>
          </a:p>
          <a:p>
            <a:pPr>
              <a:lnSpc>
                <a:spcPct val="110000"/>
              </a:lnSpc>
            </a:pPr>
            <a:r>
              <a:rPr lang="ru-RU" sz="1500"/>
              <a:t>Схема: </a:t>
            </a:r>
            <a:r>
              <a:rPr lang="en-US" sz="1500"/>
              <a:t>mermaid-</a:t>
            </a:r>
            <a:r>
              <a:rPr lang="ru-RU" sz="1500"/>
              <a:t>диаграмма из </a:t>
            </a:r>
            <a:r>
              <a:rPr lang="en-US" sz="1500"/>
              <a:t>README.</a:t>
            </a:r>
            <a:endParaRPr lang="ru-RU" sz="15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B0B6C0-1793-95D7-6CAB-ED27B362E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750638"/>
            <a:ext cx="5837780" cy="33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0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56F1E-6E78-571D-4247-75EC0CE9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ru-RU" dirty="0"/>
              <a:t>Обнаружение узлов и </a:t>
            </a:r>
            <a:r>
              <a:rPr lang="en-US" dirty="0"/>
              <a:t>P2P-</a:t>
            </a:r>
            <a:r>
              <a:rPr lang="ru-RU" dirty="0"/>
              <a:t>сессии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61A0B8-5874-9F42-9D44-36E2A3C32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1500"/>
              <a:t>UDP broadcast/multicast для автоматического обнаружения + возможность задать статические peer-адреса через переменную окружения. </a:t>
            </a:r>
          </a:p>
          <a:p>
            <a:pPr>
              <a:lnSpc>
                <a:spcPct val="110000"/>
              </a:lnSpc>
            </a:pPr>
            <a:r>
              <a:rPr lang="ru-RU" sz="1500"/>
              <a:t>После обнаружения устанавливается TCP-соединение для P2P-сессии. </a:t>
            </a:r>
          </a:p>
          <a:p>
            <a:pPr>
              <a:lnSpc>
                <a:spcPct val="110000"/>
              </a:lnSpc>
            </a:pPr>
            <a:r>
              <a:rPr lang="ru-RU" sz="1500"/>
              <a:t>Динамическое обновление списка: новые узлы появляются, отключённые удаляются по таймауту. </a:t>
            </a:r>
          </a:p>
          <a:p>
            <a:pPr>
              <a:lnSpc>
                <a:spcPct val="110000"/>
              </a:lnSpc>
            </a:pPr>
            <a:r>
              <a:rPr lang="ru-RU" sz="1500"/>
              <a:t>Демо: запуск 3 узлов → автообнаружение → список пиров в UI.</a:t>
            </a:r>
          </a:p>
        </p:txBody>
      </p:sp>
      <p:pic>
        <p:nvPicPr>
          <p:cNvPr id="7" name="Graphic 6" descr="Поток данных">
            <a:extLst>
              <a:ext uri="{FF2B5EF4-FFF2-40B4-BE49-F238E27FC236}">
                <a16:creationId xmlns:a16="http://schemas.microsoft.com/office/drawing/2014/main" id="{F82C4DC8-FA6A-F3BF-E2C8-FD16817E1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7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45E79-2A5B-E6A5-D7F6-F2CBB3DF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Чат, надёжность и </a:t>
            </a:r>
            <a:r>
              <a:rPr lang="ru-RU" dirty="0" err="1"/>
              <a:t>мультихоп</a:t>
            </a:r>
            <a:endParaRPr lang="ru-RU"/>
          </a:p>
        </p:txBody>
      </p:sp>
      <p:graphicFrame>
        <p:nvGraphicFramePr>
          <p:cNvPr id="12" name="Объект 2">
            <a:extLst>
              <a:ext uri="{FF2B5EF4-FFF2-40B4-BE49-F238E27FC236}">
                <a16:creationId xmlns:a16="http://schemas.microsoft.com/office/drawing/2014/main" id="{535D0EDC-3ABE-D412-839D-9C4E22D1B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00269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699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37338-F171-DE6B-059C-92257523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файлов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9AA4E54B-95A4-4B1F-216F-3F1F064763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815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2F635-EBBB-B83F-6571-3904741F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Real-time</a:t>
            </a:r>
            <a:r>
              <a:rPr lang="ru-RU" dirty="0"/>
              <a:t> звонки и метрики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63AB64-9168-8D2D-6C23-9D8F5B2A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dirty="0"/>
              <a:t>Signaling </a:t>
            </a:r>
            <a:r>
              <a:rPr lang="ru-RU" sz="1500" dirty="0"/>
              <a:t>через </a:t>
            </a:r>
            <a:r>
              <a:rPr lang="en-US" sz="1500" dirty="0"/>
              <a:t>Socket.IO, </a:t>
            </a:r>
            <a:r>
              <a:rPr lang="ru-RU" sz="1500" dirty="0"/>
              <a:t>медиа через </a:t>
            </a:r>
            <a:r>
              <a:rPr lang="en-US" sz="1500" dirty="0"/>
              <a:t>WebRTC (</a:t>
            </a:r>
            <a:r>
              <a:rPr lang="ru-RU" sz="1500" dirty="0"/>
              <a:t>браузерный </a:t>
            </a:r>
            <a:r>
              <a:rPr lang="en-US" sz="1500" dirty="0"/>
              <a:t>RTP/UDP </a:t>
            </a:r>
            <a:r>
              <a:rPr lang="ru-RU" sz="1500" dirty="0"/>
              <a:t>стек). Метрики в реальном времени через </a:t>
            </a:r>
            <a:r>
              <a:rPr lang="en-US" sz="1500" dirty="0" err="1"/>
              <a:t>RTCPeerConnection.getStats</a:t>
            </a:r>
            <a:r>
              <a:rPr lang="en-US" sz="1500" dirty="0"/>
              <a:t>() </a:t>
            </a:r>
            <a:r>
              <a:rPr lang="ru-RU" sz="1500" dirty="0"/>
              <a:t>каждую секунду с </a:t>
            </a:r>
            <a:r>
              <a:rPr lang="en-US" sz="1500" dirty="0"/>
              <a:t>EMA-</a:t>
            </a:r>
            <a:r>
              <a:rPr lang="ru-RU" sz="1500" dirty="0"/>
              <a:t>сглаживанием (</a:t>
            </a:r>
            <a:r>
              <a:rPr lang="el-GR" sz="1500" dirty="0"/>
              <a:t>α=0.3): </a:t>
            </a:r>
            <a:r>
              <a:rPr lang="en-US" sz="1500" dirty="0"/>
              <a:t>latency (RTT), jitter, packet loss, bitrate.</a:t>
            </a:r>
            <a:endParaRPr lang="ru-RU" sz="1500" dirty="0"/>
          </a:p>
          <a:p>
            <a:pPr>
              <a:lnSpc>
                <a:spcPct val="110000"/>
              </a:lnSpc>
            </a:pPr>
            <a:r>
              <a:rPr lang="en-US" sz="1500" dirty="0"/>
              <a:t> UI </a:t>
            </a:r>
            <a:r>
              <a:rPr lang="ru-RU" sz="1500" dirty="0"/>
              <a:t>остаётся интерактивным и показывает состояние качества. </a:t>
            </a:r>
          </a:p>
          <a:p>
            <a:pPr>
              <a:lnSpc>
                <a:spcPct val="110000"/>
              </a:lnSpc>
            </a:pPr>
            <a:r>
              <a:rPr lang="ru-RU" sz="1500" dirty="0"/>
              <a:t>Демо: голосовой вызов + внесение искусственных потерь → метрики меняются, соединение сохраняется.</a:t>
            </a:r>
          </a:p>
        </p:txBody>
      </p:sp>
      <p:pic>
        <p:nvPicPr>
          <p:cNvPr id="7" name="Graphic 6" descr="Wi-Fi">
            <a:extLst>
              <a:ext uri="{FF2B5EF4-FFF2-40B4-BE49-F238E27FC236}">
                <a16:creationId xmlns:a16="http://schemas.microsoft.com/office/drawing/2014/main" id="{1EECBCD5-505B-1D62-002D-77B260424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C5429-A15E-3054-5875-6C8145AA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Шифрование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E1BE97-5546-0251-D465-2EA3D9567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X25519 (ECDH) </a:t>
            </a:r>
            <a:r>
              <a:rPr lang="ru-RU" dirty="0"/>
              <a:t>для обмена ключами + </a:t>
            </a:r>
            <a:r>
              <a:rPr lang="en-US" dirty="0"/>
              <a:t>AES-256-GCM </a:t>
            </a:r>
            <a:r>
              <a:rPr lang="ru-RU" dirty="0"/>
              <a:t>для данных. </a:t>
            </a:r>
          </a:p>
          <a:p>
            <a:r>
              <a:rPr lang="ru-RU" dirty="0"/>
              <a:t>Аутентификация: </a:t>
            </a:r>
            <a:r>
              <a:rPr lang="en-US" dirty="0"/>
              <a:t>Ed25519 </a:t>
            </a:r>
            <a:r>
              <a:rPr lang="ru-RU" dirty="0"/>
              <a:t>подписи, </a:t>
            </a:r>
            <a:r>
              <a:rPr lang="en-US" dirty="0" err="1"/>
              <a:t>node_id</a:t>
            </a:r>
            <a:r>
              <a:rPr lang="en-US" dirty="0"/>
              <a:t> + seed pairing </a:t>
            </a:r>
            <a:r>
              <a:rPr lang="ru-RU" dirty="0"/>
              <a:t>для идентификации. </a:t>
            </a:r>
          </a:p>
          <a:p>
            <a:r>
              <a:rPr lang="en-US" dirty="0"/>
              <a:t>Trusted-only </a:t>
            </a:r>
            <a:r>
              <a:rPr lang="ru-RU" dirty="0"/>
              <a:t>политика: чат, звонки и файлы только между подтверждёнными узлами. </a:t>
            </a:r>
          </a:p>
          <a:p>
            <a:r>
              <a:rPr lang="ru-RU" dirty="0"/>
              <a:t>Защита от злоупотреблений: </a:t>
            </a:r>
            <a:r>
              <a:rPr lang="en-US" dirty="0"/>
              <a:t>rate limit, </a:t>
            </a:r>
            <a:r>
              <a:rPr lang="en-US" dirty="0" err="1"/>
              <a:t>autoban</a:t>
            </a:r>
            <a:r>
              <a:rPr lang="en-US" dirty="0"/>
              <a:t>, blacklist. </a:t>
            </a:r>
            <a:endParaRPr lang="ru-RU" dirty="0"/>
          </a:p>
          <a:p>
            <a:r>
              <a:rPr lang="ru-RU" dirty="0"/>
              <a:t>Защита от </a:t>
            </a:r>
            <a:r>
              <a:rPr lang="en-US" dirty="0"/>
              <a:t>replay/loop: </a:t>
            </a:r>
            <a:r>
              <a:rPr lang="en-US" dirty="0" err="1"/>
              <a:t>msg_id</a:t>
            </a:r>
            <a:r>
              <a:rPr lang="en-US" dirty="0"/>
              <a:t> + TTL + </a:t>
            </a:r>
            <a:r>
              <a:rPr lang="en-US" dirty="0" err="1"/>
              <a:t>dedup</a:t>
            </a:r>
            <a:r>
              <a:rPr lang="en-US" dirty="0"/>
              <a:t> + </a:t>
            </a:r>
            <a:r>
              <a:rPr lang="ru-RU" dirty="0"/>
              <a:t>подпись. </a:t>
            </a:r>
          </a:p>
          <a:p>
            <a:r>
              <a:rPr lang="ru-RU" dirty="0"/>
              <a:t>Краткая модель угроз: подмена сообщений, </a:t>
            </a:r>
            <a:r>
              <a:rPr lang="en-US" dirty="0"/>
              <a:t>replay, </a:t>
            </a:r>
            <a:r>
              <a:rPr lang="ru-RU" dirty="0"/>
              <a:t>спам/флуд, деградация канала.</a:t>
            </a:r>
          </a:p>
        </p:txBody>
      </p:sp>
    </p:spTree>
    <p:extLst>
      <p:ext uri="{BB962C8B-B14F-4D97-AF65-F5344CB8AC3E}">
        <p14:creationId xmlns:p14="http://schemas.microsoft.com/office/powerpoint/2010/main" val="377254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6F61B-652A-5980-262F-FA0D3DF5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Тестирование, диагностика и 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7190D-3752-E72D-1432-93EBB70E7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Тесты: </a:t>
            </a:r>
            <a:r>
              <a:rPr lang="en-US" dirty="0"/>
              <a:t>unit (messaging, </a:t>
            </a:r>
            <a:r>
              <a:rPr lang="en-US" dirty="0" err="1"/>
              <a:t>file_transfer</a:t>
            </a:r>
            <a:r>
              <a:rPr lang="en-US" dirty="0"/>
              <a:t>, media, node), </a:t>
            </a:r>
            <a:r>
              <a:rPr lang="ru-RU" dirty="0"/>
              <a:t>интеграционные (</a:t>
            </a:r>
            <a:r>
              <a:rPr lang="en-US" dirty="0" err="1"/>
              <a:t>multiprocess</a:t>
            </a:r>
            <a:r>
              <a:rPr lang="en-US" dirty="0"/>
              <a:t>), e2e/</a:t>
            </a:r>
            <a:r>
              <a:rPr lang="ru-RU" dirty="0"/>
              <a:t>нагрузочные, </a:t>
            </a:r>
            <a:r>
              <a:rPr lang="en-US" dirty="0"/>
              <a:t>web server. </a:t>
            </a:r>
            <a:endParaRPr lang="ru-RU" dirty="0"/>
          </a:p>
          <a:p>
            <a:r>
              <a:rPr lang="ru-RU" dirty="0"/>
              <a:t>Диагностика: </a:t>
            </a:r>
            <a:r>
              <a:rPr lang="ru-RU" dirty="0" err="1"/>
              <a:t>эндпоинты</a:t>
            </a:r>
            <a:r>
              <a:rPr lang="ru-RU" dirty="0"/>
              <a:t> /</a:t>
            </a:r>
            <a:r>
              <a:rPr lang="en-US" dirty="0"/>
              <a:t>health, /ready, /metrics, /</a:t>
            </a:r>
            <a:r>
              <a:rPr lang="en-US" dirty="0" err="1"/>
              <a:t>api</a:t>
            </a:r>
            <a:r>
              <a:rPr lang="en-US" dirty="0"/>
              <a:t>/network/diagnostics, /</a:t>
            </a:r>
            <a:r>
              <a:rPr lang="en-US" dirty="0" err="1"/>
              <a:t>api</a:t>
            </a:r>
            <a:r>
              <a:rPr lang="en-US" dirty="0"/>
              <a:t>/security/events. </a:t>
            </a:r>
            <a:r>
              <a:rPr lang="ru-RU" dirty="0"/>
              <a:t>Все 6 обязательных сценариев ТЗ реализованы в коде и демонстрируемы.</a:t>
            </a:r>
          </a:p>
          <a:p>
            <a:r>
              <a:rPr lang="ru-RU" dirty="0"/>
              <a:t> Ограничения: </a:t>
            </a:r>
            <a:r>
              <a:rPr lang="en-US" dirty="0"/>
              <a:t>LAN-only, </a:t>
            </a:r>
            <a:r>
              <a:rPr lang="ru-RU" dirty="0"/>
              <a:t>без </a:t>
            </a:r>
            <a:r>
              <a:rPr lang="en-US" dirty="0"/>
              <a:t>NAT traversal / BLE / Wi-Fi Direct; </a:t>
            </a:r>
            <a:r>
              <a:rPr lang="ru-RU" dirty="0"/>
              <a:t>метрики звонков — на клиенте.</a:t>
            </a:r>
          </a:p>
        </p:txBody>
      </p:sp>
    </p:spTree>
    <p:extLst>
      <p:ext uri="{BB962C8B-B14F-4D97-AF65-F5344CB8AC3E}">
        <p14:creationId xmlns:p14="http://schemas.microsoft.com/office/powerpoint/2010/main" val="332013038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640</Words>
  <Application>Microsoft Office PowerPoint</Application>
  <PresentationFormat>Широкоэкранный</PresentationFormat>
  <Paragraphs>45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VanillaVTI</vt:lpstr>
      <vt:lpstr>MeshLink – мессенджер для тебя, когда интернет упал</vt:lpstr>
      <vt:lpstr>Проблема и цель</vt:lpstr>
      <vt:lpstr>Стек технологий</vt:lpstr>
      <vt:lpstr>Архитектура и топология</vt:lpstr>
      <vt:lpstr>Обнаружение узлов и P2P-сессии</vt:lpstr>
      <vt:lpstr>Чат, надёжность и мультихоп</vt:lpstr>
      <vt:lpstr>Передача файлов</vt:lpstr>
      <vt:lpstr>Real-time звонки и метрики </vt:lpstr>
      <vt:lpstr>Безопасность Шифрование</vt:lpstr>
      <vt:lpstr>Тестирование, диагностика и 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Пётр Кузнецов</dc:creator>
  <cp:lastModifiedBy>Пётр Кузнецов</cp:lastModifiedBy>
  <cp:revision>1</cp:revision>
  <dcterms:created xsi:type="dcterms:W3CDTF">2026-03-07T20:40:45Z</dcterms:created>
  <dcterms:modified xsi:type="dcterms:W3CDTF">2026-03-07T22:30:57Z</dcterms:modified>
</cp:coreProperties>
</file>